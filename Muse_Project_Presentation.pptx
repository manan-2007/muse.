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FA233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4C1D95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A233B"/>
                </a:solidFill>
              </a:rPr>
              <a:t>Muse</a:t>
            </a:r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</a:rPr>
              <a:t>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8989D"/>
                </a:solidFill>
              </a:rPr>
              <a:t>Your Music, Your World.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98989D"/>
                </a:solidFill>
              </a:rPr>
              <a:t>FRONT END ENGINEERING  —  PROJECT PRESENTATION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3474720"/>
            <a:ext cx="2743200" cy="27432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Arjun Sheoran   ·   Atharv Bains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8989D"/>
                </a:solidFill>
              </a:rPr>
              <a:t>HTML5  ·  CSS3  ·  Vanilla JavaScript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Meet the Team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566160" cy="3017520"/>
          </a:xfrm>
          <a:prstGeom prst="rect">
            <a:avLst/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91640" y="1280160"/>
            <a:ext cx="1280160" cy="1280160"/>
          </a:xfrm>
          <a:prstGeom prst="ellipse">
            <a:avLst/>
          </a:prstGeom>
          <a:solidFill>
            <a:srgbClr val="FA233B"/>
          </a:solidFill>
          <a:ln/>
        </p:spPr>
      </p:sp>
      <p:sp>
        <p:nvSpPr>
          <p:cNvPr id="5" name="Text 3"/>
          <p:cNvSpPr/>
          <p:nvPr/>
        </p:nvSpPr>
        <p:spPr>
          <a:xfrm>
            <a:off x="1691640" y="12801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Arjun Sheoran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A233B"/>
                </a:solidFill>
              </a:rPr>
              <a:t>FULL STACK DEVELOPER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340156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989D"/>
                </a:solidFill>
              </a:rPr>
              <a:t>Passionate developer focused 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8989D"/>
                </a:solidFill>
              </a:rPr>
              <a:t>seamless user experiences and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8989D"/>
                </a:solidFill>
              </a:rPr>
              <a:t>robust front-end architecture.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0" y="1051560"/>
            <a:ext cx="3566160" cy="3017520"/>
          </a:xfrm>
          <a:prstGeom prst="rect">
            <a:avLst/>
          </a:prstGeom>
          <a:solidFill>
            <a:srgbClr val="1C1C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280160"/>
            <a:ext cx="1280160" cy="1280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2801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Atharv Bains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3108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7C3AED"/>
                </a:solidFill>
              </a:rPr>
              <a:t>UI / UX DESIGNER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66360" y="340156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989D"/>
                </a:solidFill>
              </a:rPr>
              <a:t>Color theory, typography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8989D"/>
                </a:solidFill>
              </a:rPr>
              <a:t>interaction design — crafting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8989D"/>
                </a:solidFill>
              </a:rPr>
              <a:t>every interaction to feel intuitive.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Muse.  —  Front End Engineering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is Muse.?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CCCCC"/>
                </a:solidFill>
              </a:rPr>
              <a:t>A premium, fully responsive web-based music player built with pure HTML5, CSS3 &amp; Vanilla JavaScript — no frameworks, no libraries. Muse. delivers a native-app-like experience entirely in the browser.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828800"/>
            <a:ext cx="1828800" cy="1097280"/>
          </a:xfrm>
          <a:prstGeom prst="rect">
            <a:avLst/>
          </a:prstGeom>
          <a:solidFill>
            <a:srgbClr val="1C1C1E"/>
          </a:solidFill>
          <a:ln w="12700">
            <a:solidFill>
              <a:srgbClr val="FA233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920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233B"/>
                </a:solidFill>
              </a:rPr>
              <a:t>10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989D"/>
                </a:solidFill>
              </a:rPr>
              <a:t>HTML Pages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31720" y="1828800"/>
            <a:ext cx="1828800" cy="1097280"/>
          </a:xfrm>
          <a:prstGeom prst="rect">
            <a:avLst/>
          </a:prstGeom>
          <a:solidFill>
            <a:srgbClr val="1C1C1E"/>
          </a:solidFill>
          <a:ln w="12700">
            <a:solidFill>
              <a:srgbClr val="FA233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1920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233B"/>
                </a:solidFill>
              </a:rPr>
              <a:t>20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33172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989D"/>
                </a:solidFill>
              </a:rPr>
              <a:t>Songs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1828800" cy="1097280"/>
          </a:xfrm>
          <a:prstGeom prst="rect">
            <a:avLst/>
          </a:prstGeom>
          <a:solidFill>
            <a:srgbClr val="1C1C1E"/>
          </a:solidFill>
          <a:ln w="12700">
            <a:solidFill>
              <a:srgbClr val="FA233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43400" y="1920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233B"/>
                </a:solidFill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34340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989D"/>
                </a:solidFill>
              </a:rPr>
              <a:t>JS Files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1828800" cy="1097280"/>
          </a:xfrm>
          <a:prstGeom prst="rect">
            <a:avLst/>
          </a:prstGeom>
          <a:solidFill>
            <a:srgbClr val="1C1C1E"/>
          </a:solidFill>
          <a:ln w="12700">
            <a:solidFill>
              <a:srgbClr val="FA233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1920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233B"/>
                </a:solidFill>
              </a:rPr>
              <a:t>8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5508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989D"/>
                </a:solidFill>
              </a:rPr>
              <a:t>Playlists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154680"/>
            <a:ext cx="8503920" cy="1325880"/>
          </a:xfrm>
          <a:prstGeom prst="rect">
            <a:avLst/>
          </a:prstGeom>
          <a:solidFill>
            <a:srgbClr val="1C1C1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4612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CCCCC"/>
                </a:solidFill>
              </a:rPr>
              <a:t>✦  Multi-page SPA-like flow with URL parameters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CCCCC"/>
                </a:solidFill>
              </a:rPr>
              <a:t>✦  localStorage-based authentication system (Sign Up / Login / Forgot Password)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CCCCC"/>
                </a:solidFill>
              </a:rPr>
              <a:t>✦  Dynamic blurred adaptive background that changes with every song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CCCCC"/>
                </a:solidFill>
              </a:rPr>
              <a:t>✦  Live search, curated playlists, vinyl-spin animation, shuffle &amp; repeat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Muse.  —  Front End Engineering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Project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989D"/>
                </a:solidFill>
              </a:rPr>
              <a:t>10 interconnected pages — all sharing one style.css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554480" cy="822960"/>
          </a:xfrm>
          <a:prstGeom prst="rect">
            <a:avLst/>
          </a:prstGeom>
          <a:solidFill>
            <a:srgbClr val="FA233B">
              <a:alpha val="80000"/>
            </a:srgbClr>
          </a:solidFill>
          <a:ln w="12700">
            <a:solidFill>
              <a:srgbClr val="FA2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16276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Landing Page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0" y="1234440"/>
            <a:ext cx="1554480" cy="8229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2801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home.html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011680" y="16276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Dashboard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749040" y="1234440"/>
            <a:ext cx="1554480" cy="8229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2801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player.html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749040" y="16276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Music Player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0" y="1234440"/>
            <a:ext cx="1554480" cy="82296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2801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library.html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0" y="16276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Song Library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223760" y="1234440"/>
            <a:ext cx="1554480" cy="822960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12801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playlists.html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223760" y="16276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Playlists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286000"/>
            <a:ext cx="1874520" cy="822960"/>
          </a:xfrm>
          <a:prstGeom prst="rect">
            <a:avLst/>
          </a:prstGeom>
          <a:solidFill>
            <a:srgbClr val="E91E8C">
              <a:alpha val="75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33172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login.html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4320" y="267919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User Login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23160" y="2286000"/>
            <a:ext cx="1874520" cy="822960"/>
          </a:xfrm>
          <a:prstGeom prst="rect">
            <a:avLst/>
          </a:prstGeom>
          <a:solidFill>
            <a:srgbClr val="E91E8C">
              <a:alpha val="75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233172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signup.html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423160" y="267919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Registration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0" y="2286000"/>
            <a:ext cx="1874520" cy="822960"/>
          </a:xfrm>
          <a:prstGeom prst="rect">
            <a:avLst/>
          </a:prstGeom>
          <a:solidFill>
            <a:srgbClr val="E91E8C">
              <a:alpha val="75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33172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forgot-password.html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0" y="267919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OTP Reset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20840" y="2286000"/>
            <a:ext cx="1874520" cy="822960"/>
          </a:xfrm>
          <a:prstGeom prst="rect">
            <a:avLst/>
          </a:prstGeom>
          <a:solidFill>
            <a:srgbClr val="888888">
              <a:alpha val="75000"/>
            </a:srgbClr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233172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about.html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20840" y="267919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Team Info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3337560"/>
            <a:ext cx="85953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401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8989D"/>
                </a:solidFill>
              </a:rPr>
              <a:t>Shared Files: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11680" y="34015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03320" y="34015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songs.js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34015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script.js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86600" y="34015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1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auth.js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989D"/>
                </a:solidFill>
              </a:rPr>
              <a:t>All pages link the same style.css — one file controls the entire app's look. songs.js is a shared data source. auth.js is the authentication module.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Muse.  —  Front End Engineering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HTML5 — Structure &amp; Semantics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228600"/>
          </a:xfrm>
          <a:prstGeom prst="rect">
            <a:avLst/>
          </a:prstGeom>
          <a:solidFill>
            <a:srgbClr val="FA233B">
              <a:alpha val="20000"/>
            </a:srgbClr>
          </a:solidFill>
          <a:ln w="6350">
            <a:solidFill>
              <a:srgbClr val="FA2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A233B"/>
                </a:solidFill>
              </a:rPr>
              <a:t>LECTURES 1–4 / 23–26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" cy="32004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Semantic Tags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42646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989D"/>
                </a:solidFill>
              </a:rPr>
              <a:t>Used &lt;nav&gt;, &lt;section&gt;, &lt;footer&gt;, &lt;form&gt;, &lt;table&gt; for meaningful structure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700784"/>
            <a:ext cx="54864" cy="32004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07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Viewport Meta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19385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989D"/>
                </a:solidFill>
              </a:rPr>
              <a:t>&lt;meta name='viewport'&gt; enables mobile-responsive layout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54864" cy="32004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128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Deferred Script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4505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989D"/>
                </a:solidFill>
              </a:rPr>
              <a:t>&lt;script defer&gt; ensures DOM is ready before JS runs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724912"/>
            <a:ext cx="54864" cy="32004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249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Range Inputs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296265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989D"/>
                </a:solidFill>
              </a:rPr>
              <a:t>&lt;input type='range'&gt; for seek &amp; volume sliders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54864" cy="32004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3697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Forms &amp; Inputs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989D"/>
                </a:solidFill>
              </a:rPr>
              <a:t>Login/Signup forms with type='text', 'password', 'checkbox', 'email'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54864" cy="32004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490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CDN Link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98678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989D"/>
                </a:solidFill>
              </a:rPr>
              <a:t>FontAwesome 5 loaded via &lt;link&gt; — 400+ icons available instantly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937760" y="1188720"/>
            <a:ext cx="3840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118872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Semantic structure --&gt;
</a:t>
            </a:r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class="nav-bar"&gt;
</a:t>
            </a:r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href='home.html'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class='nav-item'&gt;
</a:t>
            </a:r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 class='fas fa-home'&gt;&lt;/i&gt;
</a:t>
            </a:r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&lt;span&gt;Home&lt;/span&gt;
</a:t>
            </a:r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&lt;/a&gt;
</a:t>
            </a:r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37760" y="2331720"/>
            <a:ext cx="3840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23317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Range slider for seeking --&gt;
</a:t>
            </a:r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type='range'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min='1' max='100' value='0'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class='seek_slider'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onchange='seekTo()'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37760" y="3291840"/>
            <a:ext cx="38404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3291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Script with defer --&gt;
</a:t>
            </a:r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src='script.js'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&gt;&lt;/script&gt;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37760" y="4114800"/>
            <a:ext cx="384048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4114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Dynamic audio element --&gt;
</a:t>
            </a:r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curr_track = document.</a:t>
            </a:r>
            <a:pPr indent="0" marL="0"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createElement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('audio');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Muse.  —  Front End Engineering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CSS3 — Layout &amp; Styling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061972" cy="228600"/>
          </a:xfrm>
          <a:prstGeom prst="rect">
            <a:avLst/>
          </a:prstGeom>
          <a:solidFill>
            <a:srgbClr val="FA233B">
              <a:alpha val="20000"/>
            </a:srgbClr>
          </a:solidFill>
          <a:ln w="6350">
            <a:solidFill>
              <a:srgbClr val="FA2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20619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A233B"/>
                </a:solidFill>
              </a:rPr>
              <a:t>ADVANCED CSS TECHNIQUES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651760" cy="1280160"/>
          </a:xfrm>
          <a:prstGeom prst="rect">
            <a:avLst/>
          </a:prstGeom>
          <a:solidFill>
            <a:srgbClr val="1C1C1E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98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⬛  Flexbox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989D"/>
                </a:solidFill>
              </a:rPr>
              <a:t>Used throughout — nav-bar, buttons, cards, auth forms. justify-content &amp; align-items for perfect centering.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54680" y="1188720"/>
            <a:ext cx="2651760" cy="1280160"/>
          </a:xfrm>
          <a:prstGeom prst="rect">
            <a:avLst/>
          </a:prstGeom>
          <a:solidFill>
            <a:srgbClr val="1C1C1E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298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⊞  CSS Grid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60020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989D"/>
                </a:solidFill>
              </a:rPr>
              <a:t>grid-template-columns for library table, playlist collage art (2×2), and features grid (auto-fit).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1280160"/>
          </a:xfrm>
          <a:prstGeom prst="rect">
            <a:avLst/>
          </a:prstGeom>
          <a:solidFill>
            <a:srgbClr val="1C1C1E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298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💠  CSS Variables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72200" y="160020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989D"/>
                </a:solidFill>
              </a:rPr>
              <a:t>:root defines --red, --bg, --surface, --transition-fast — keeping the design consistent globally.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606040"/>
            <a:ext cx="2651760" cy="1280160"/>
          </a:xfrm>
          <a:prstGeom prst="rect">
            <a:avLst/>
          </a:prstGeom>
          <a:solidFill>
            <a:srgbClr val="1C1C1E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7157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🔮  Glassmorphism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01752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989D"/>
                </a:solidFill>
              </a:rPr>
              <a:t>backdrop-filter: blur(25px) on nav-bar creates the frosted-glass effect seen across all pages.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54680" y="2606040"/>
            <a:ext cx="2651760" cy="1280160"/>
          </a:xfrm>
          <a:prstGeom prst="rect">
            <a:avLst/>
          </a:prstGeom>
          <a:solidFill>
            <a:srgbClr val="1C1C1E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7157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 Responsive Design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301752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989D"/>
                </a:solidFill>
              </a:rPr>
              <a:t>@media queries adapt layout for mobile (≤400px, ≤600px) and desktop (≥768px). Mobile-first.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2606040"/>
            <a:ext cx="2651760" cy="1280160"/>
          </a:xfrm>
          <a:prstGeom prst="rect">
            <a:avLst/>
          </a:prstGeom>
          <a:solidFill>
            <a:srgbClr val="1C1C1E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2200" y="27157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✨  Pseudo-elements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301752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989D"/>
                </a:solidFill>
              </a:rPr>
              <a:t>.wrapper::before creates the full-screen blurred album art backdrop — updated dynamically via JS.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Muse.  —  Front End Engineering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CSS3 — Animations &amp; Effects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751076" cy="228600"/>
          </a:xfrm>
          <a:prstGeom prst="rect">
            <a:avLst/>
          </a:prstGeom>
          <a:solidFill>
            <a:srgbClr val="FA233B">
              <a:alpha val="20000"/>
            </a:srgbClr>
          </a:solidFill>
          <a:ln w="6350">
            <a:solidFill>
              <a:srgbClr val="FA2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17510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A233B"/>
                </a:solidFill>
              </a:rPr>
              <a:t>BEYOND THE SYLLABUS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4864" cy="36576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A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rotation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Vinyl-disc spin on album art while track plays. animation: rotation 10s infinite linear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54864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55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shake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Shakes the error box on wrong login. Uses translateX offsets for a realistic jitter.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322576"/>
            <a:ext cx="54864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225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fadeUp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5968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Hero section elements fade in from below on the landing page with staggered delays.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54864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895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scrollLeft/Right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16382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Infinite marquee of album art on the landing page — two rows scrolling in opposite directions.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3456432"/>
            <a:ext cx="54864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56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bgPulse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730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Background gradient pulses between two states every 8s for a living, breathing hero section.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54864" cy="365760"/>
          </a:xfrm>
          <a:prstGeom prst="rect">
            <a:avLst/>
          </a:prstGeom>
          <a:solidFill>
            <a:srgbClr val="FFADB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D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floatArt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42976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Spotlight artwork gently floats up and down with a slight rotation — looping every 4 seconds.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1188720"/>
            <a:ext cx="41148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18872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Vinyl rotation */
</a:t>
            </a:r>
            <a:pPr indent="0" marL="0">
              <a:buNone/>
            </a:pPr>
            <a:r>
              <a:rPr lang="en-US" sz="850" dirty="0">
                <a:solidFill>
                  <a:srgbClr val="D7B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.rotate</a:t>
            </a:r>
            <a:pPr indent="0" marL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animation: rotation 10s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infinite linear;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rotation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transform: rotate(0deg); }
</a:t>
            </a:r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transform: rotate(359deg);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2606040"/>
            <a:ext cx="41148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60604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Blurred dynamic backdrop */
</a:t>
            </a:r>
            <a:pPr indent="0" marL="0">
              <a:buNone/>
            </a:pPr>
            <a:r>
              <a:rPr lang="en-US" sz="850" dirty="0">
                <a:solidFill>
                  <a:srgbClr val="D7B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.wrapper</a:t>
            </a:r>
            <a:pPr indent="0" marL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::before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content: '';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absolute;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background-size: cover;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blur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(60px)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brightness(0.4);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background-image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0.5s ease-in-out;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4114800"/>
            <a:ext cx="41148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41148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Marquee animation */
</a:t>
            </a:r>
            <a:pPr indent="0" marL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</a:t>
            </a:r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scrollLeft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transform: translateX(0);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transform: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translateX(-50%);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Muse.  —  Front End Engineering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JavaScript — Data Layer (songs.js)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916936" cy="228600"/>
          </a:xfrm>
          <a:prstGeom prst="rect">
            <a:avLst/>
          </a:prstGeom>
          <a:solidFill>
            <a:srgbClr val="FA233B">
              <a:alpha val="20000"/>
            </a:srgbClr>
          </a:solidFill>
          <a:ln w="6350">
            <a:solidFill>
              <a:srgbClr val="FA2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A233B"/>
                </a:solidFill>
              </a:rPr>
              <a:t>REFERENCE TYPES — ARRAYS &amp; OBJECTS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songs.js exports a single global constant — music_list — an Array of 20 Objects. Each object holds 5 properties describing a track.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438912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45920"/>
            <a:ext cx="42062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music_list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'images/sunflower.jpg'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// Album cover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'Sunflower'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      // Song title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artist: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'Post Malone'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  // Artist 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music: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'music/sunflower.mp3'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// Audio file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duration: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'2:41'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// Display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12064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Concepts Demonstrated: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74920" y="2048256"/>
            <a:ext cx="201168" cy="201168"/>
          </a:xfrm>
          <a:prstGeom prst="ellipse">
            <a:avLst/>
          </a:prstGeom>
          <a:solidFill>
            <a:srgbClr val="FA233B"/>
          </a:solidFill>
          <a:ln/>
        </p:spPr>
      </p:sp>
      <p:sp>
        <p:nvSpPr>
          <p:cNvPr id="10" name="Text 8"/>
          <p:cNvSpPr/>
          <p:nvPr/>
        </p:nvSpPr>
        <p:spPr>
          <a:xfrm>
            <a:off x="5349240" y="201168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Arrays of Objects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49240" y="226771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music_list is an Array — a Reference Type — each element is an Object with properties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74920" y="2578608"/>
            <a:ext cx="201168" cy="201168"/>
          </a:xfrm>
          <a:prstGeom prst="ellipse">
            <a:avLst/>
          </a:prstGeom>
          <a:solidFill>
            <a:srgbClr val="FA233B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254203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Const &amp; Data Immutability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49240" y="279806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const prevents reassignment of the array reference itself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74920" y="3108960"/>
            <a:ext cx="201168" cy="201168"/>
          </a:xfrm>
          <a:prstGeom prst="ellipse">
            <a:avLst/>
          </a:prstGeom>
          <a:solidFill>
            <a:srgbClr val="FA233B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307238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String Properties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49240" y="332841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img, name, artist, music, duration all use String Primitive type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74920" y="3639312"/>
            <a:ext cx="201168" cy="201168"/>
          </a:xfrm>
          <a:prstGeom prst="ellipse">
            <a:avLst/>
          </a:prstGeom>
          <a:solidFill>
            <a:srgbClr val="FA233B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360273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Global Scope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49240" y="38587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Declared without export — loaded before script.js via &lt;script&gt; tag order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74920" y="4169664"/>
            <a:ext cx="201168" cy="201168"/>
          </a:xfrm>
          <a:prstGeom prst="ellipse">
            <a:avLst/>
          </a:prstGeom>
          <a:solidFill>
            <a:srgbClr val="FA233B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413308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forEach / Index Access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49240" y="438912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music_list[i] and music_list.forEach() used in library &amp; player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Muse.  —  Front End Engineering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JavaScript — Player Logic (script.js)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305556" cy="228600"/>
          </a:xfrm>
          <a:prstGeom prst="rect">
            <a:avLst/>
          </a:prstGeom>
          <a:solidFill>
            <a:srgbClr val="FA233B">
              <a:alpha val="20000"/>
            </a:srgbClr>
          </a:solidFill>
          <a:ln w="6350">
            <a:solidFill>
              <a:srgbClr val="FA2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33055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A233B"/>
                </a:solidFill>
              </a:rPr>
              <a:t>LECTURES 9–18  ·  FUNCTIONS, SCOPE, HOF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640080"/>
          </a:xfrm>
          <a:prstGeom prst="rect">
            <a:avLst/>
          </a:prstGeom>
          <a:solidFill>
            <a:srgbClr val="2C2C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521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D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loadTrack(index)()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42646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Loads audio src, updates art/name/artist, injects dynamic CSS backdrop via style element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023360" cy="640080"/>
          </a:xfrm>
          <a:prstGeom prst="rect">
            <a:avLst/>
          </a:prstGeom>
          <a:solidFill>
            <a:srgbClr val="2C2C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11521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D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playpauseTrack()()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81728" y="142646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Ternary toggle: isPlaying ? pauseTrack() : playTrack() — concise conditional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993392"/>
            <a:ext cx="4023360" cy="640080"/>
          </a:xfrm>
          <a:prstGeom prst="rect">
            <a:avLst/>
          </a:prstGeom>
          <a:solidFill>
            <a:srgbClr val="2C2C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482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D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playTrack()()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32257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curr_track.play() → set isPlaying=true → add .rotate class → swap icon to pause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1993392"/>
            <a:ext cx="4023360" cy="640080"/>
          </a:xfrm>
          <a:prstGeom prst="rect">
            <a:avLst/>
          </a:prstGeom>
          <a:solidFill>
            <a:srgbClr val="2C2C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0482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D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nextTrack()()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81728" y="232257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Checks isRandom flag — picks Math.random() index or increments, then loadTrack()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889504"/>
            <a:ext cx="4023360" cy="640080"/>
          </a:xfrm>
          <a:prstGeom prst="rect">
            <a:avLst/>
          </a:prstGeom>
          <a:solidFill>
            <a:srgbClr val="2C2C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9443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D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prevTrack()()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32186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Decrements track_index with wrap-around to music_list.length - 1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0" y="2889504"/>
            <a:ext cx="4023360" cy="640080"/>
          </a:xfrm>
          <a:prstGeom prst="rect">
            <a:avLst/>
          </a:prstGeom>
          <a:solidFill>
            <a:srgbClr val="2C2C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29443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D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seekTo()()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81728" y="32186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Converts slider % → actual duration seconds: duration × (value / 100)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3785616"/>
            <a:ext cx="4023360" cy="640080"/>
          </a:xfrm>
          <a:prstGeom prst="rect">
            <a:avLst/>
          </a:prstGeom>
          <a:solidFill>
            <a:srgbClr val="2C2C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840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D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setVolume()()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" y="4114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Maps 0–100 slider to 0.0–1.0 audio volume: volume_slider.value / 100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0" y="3785616"/>
            <a:ext cx="4023360" cy="640080"/>
          </a:xfrm>
          <a:prstGeom prst="rect">
            <a:avLst/>
          </a:prstGeom>
          <a:solidFill>
            <a:srgbClr val="2C2C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3840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D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setUpdate()()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81728" y="4114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Called every 1s via setInterval — calculates MM:SS for current &amp; total time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63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8989D"/>
                </a:solidFill>
              </a:rPr>
              <a:t>URL Parameter: 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74520" y="4663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URLSearchParams(window.location.search).get('track')  →  player.html?track=7 jumps directly to track #7 (Blinding Lights)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Muse.  —  Front End Engineering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JavaScript — Auth System (auth.js)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383280" cy="228600"/>
          </a:xfrm>
          <a:prstGeom prst="rect">
            <a:avLst/>
          </a:prstGeom>
          <a:solidFill>
            <a:srgbClr val="FA233B">
              <a:alpha val="20000"/>
            </a:srgbClr>
          </a:solidFill>
          <a:ln w="6350">
            <a:solidFill>
              <a:srgbClr val="FA2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A233B"/>
                </a:solidFill>
              </a:rPr>
              <a:t>LECTURES 13–16  ·  CLOSURES, IIFE, SCOPE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AuthManager is built as an IIFE (Immediately Invoked Function Expression) — a Closure pattern that keeps private data (USERS_KEY, SESSION_KEY) inaccessible from outside.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20624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78308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AuthManager = (function () {
</a:t>
            </a:r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Private — not accessible outside
</a:t>
            </a:r>
            <a:pPr indent="0" marL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</a:t>
            </a:r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USERS_KEY =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'muse_users';
</a:t>
            </a:r>
            <a:pPr indent="0" marL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</a:t>
            </a:r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SESSION_KEY =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'muse_session';
</a:t>
            </a:r>
            <a:pPr indent="0" marL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
</a:t>
            </a:r>
            <a:pPr indent="0" marL="0"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signup:</a:t>
            </a:r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function(u, e, p) {...},
</a:t>
            </a:r>
            <a:pPr indent="0" marL="0"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login:</a:t>
            </a:r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function(u, p) {...},
</a:t>
            </a:r>
            <a:pPr indent="0" marL="0"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logout:</a:t>
            </a:r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function() {...},
</a:t>
            </a:r>
            <a:pPr indent="0" marL="0"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isLoggedIn:</a:t>
            </a:r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function() {...}
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})();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892040" y="1097280"/>
            <a:ext cx="3931920" cy="640080"/>
          </a:xfrm>
          <a:prstGeom prst="rect">
            <a:avLst/>
          </a:prstGeom>
          <a:solidFill>
            <a:srgbClr val="2C2C2E"/>
          </a:solidFill>
          <a:ln w="12700">
            <a:solidFill>
              <a:srgbClr val="FA2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15214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233B"/>
                </a:solidFill>
              </a:rPr>
              <a:t>IIFE Pattern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417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The function executes immediately, creating a private scope. Public methods are exposed via the returned object.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92040" y="1828800"/>
            <a:ext cx="3931920" cy="640080"/>
          </a:xfrm>
          <a:prstGeom prst="rect">
            <a:avLst/>
          </a:prstGeom>
          <a:solidFill>
            <a:srgbClr val="2C2C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8836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Closure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2148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Inner functions (getUsers, saveUsers) retain access to USERS_KEY even after the IIFE completes.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92040" y="2560320"/>
            <a:ext cx="3931920" cy="640080"/>
          </a:xfrm>
          <a:prstGeom prst="rect">
            <a:avLst/>
          </a:prstGeom>
          <a:solidFill>
            <a:srgbClr val="2C2C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6151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localStorage API (BOM)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880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JSON.stringify() &amp; JSON.parse() serialize user array to/from localStorage for persistence across page loads.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92040" y="3291840"/>
            <a:ext cx="3931920" cy="640080"/>
          </a:xfrm>
          <a:prstGeom prst="rect">
            <a:avLst/>
          </a:prstGeom>
          <a:solidFill>
            <a:srgbClr val="2C2C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3467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OTP Simulation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3611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forgotPassword() generates a 6-digit code using Math.floor(Math.random() * 10) in a for-loop.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92040" y="4023360"/>
            <a:ext cx="3931920" cy="640080"/>
          </a:xfrm>
          <a:prstGeom prst="rect">
            <a:avLst/>
          </a:prstGeom>
          <a:solidFill>
            <a:srgbClr val="2C2C2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40782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Password Reset Flow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43434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3-step flow: Email → OTP verify → New password. Progress shown via step-dot indicators.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Muse.  —  Front End Engineering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DOM Manipulation in Action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771900" cy="228600"/>
          </a:xfrm>
          <a:prstGeom prst="rect">
            <a:avLst/>
          </a:prstGeom>
          <a:solidFill>
            <a:srgbClr val="FA233B">
              <a:alpha val="20000"/>
            </a:srgbClr>
          </a:solidFill>
          <a:ln w="6350">
            <a:solidFill>
              <a:srgbClr val="FA2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37719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A233B"/>
                </a:solidFill>
              </a:rPr>
              <a:t>LECTURES 23–26  ·  DOM TREE, SELECTORS, NODES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202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61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querySelector()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377440" y="11795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Selects single element — used for all player controls, art, sliders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9202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18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querySelectorAll()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377440" y="16367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Selects all .feature-card elements for IntersectionObserver loop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057400"/>
            <a:ext cx="19202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75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createElement()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377440" y="20939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Creates &lt;audio&gt; element &amp; dynamic &lt;style&gt; element for backdrop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19202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32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appendChild()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77440" y="25511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Adds waveform bars to #waveform and &lt;style&gt; to &lt;head&gt;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19202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90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innerHTML / textContent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377440" y="3008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Updates track-name, track-artist, now-playing, play/pause icon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19202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47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insertRow() / insertCell()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377440" y="34655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Dynamically builds the library song table row by row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886200"/>
            <a:ext cx="19202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904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classList.add/remove()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377440" y="39227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.rotate class added on play, removed on pause — triggers CSS spin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1920240" cy="320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361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style.backgroundImage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377440" y="43799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Sets album art &amp; dynamic blurred backdrop from JS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46320" y="1143000"/>
            <a:ext cx="40233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11430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Dynamic library table build
</a:t>
            </a:r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music_list.</a:t>
            </a:r>
            <a:pPr indent="0" marL="0"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((song, index)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row = tableBody.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insertRow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cell1 = row.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insertCell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row.onclick =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window.location.href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'player.html?track='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index;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cell1.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innerHTML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`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&lt;img src=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"${song.img}"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alt=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"${song.name}"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${song.name}</a:t>
            </a:r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Muse.  —  Front End Engineering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Event Handling &amp; BOM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227832" cy="228600"/>
          </a:xfrm>
          <a:prstGeom prst="rect">
            <a:avLst/>
          </a:prstGeom>
          <a:solidFill>
            <a:srgbClr val="FA233B">
              <a:alpha val="20000"/>
            </a:srgbClr>
          </a:solidFill>
          <a:ln w="6350">
            <a:solidFill>
              <a:srgbClr val="FA2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A233B"/>
                </a:solidFill>
              </a:rPr>
              <a:t>LECTURES 27–34  ·  EVENTS, BOM, WINDOW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Event Types Used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28016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3560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737360" y="145389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Seek &amp; volume sliders → seekTo() / setVolume()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819656"/>
            <a:ext cx="128016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3794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onclick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37360" y="185623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All buttons, song rows, hero banner, scroll cards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221992"/>
            <a:ext cx="128016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4028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onkeyup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737360" y="225856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Search input → filterSongs() for live filtering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624328"/>
            <a:ext cx="128016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4261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onsubmit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737360" y="266090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Login &amp; Signup forms → handleLogin() / handleSignup()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3026664"/>
            <a:ext cx="128016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4495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'ended'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37360" y="30632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Audio element → automatically calls nextTrack() on song finish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128016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4728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'scroll'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737360" y="346557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window.addEventListener → adds .scrolled class to landing nav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3831336"/>
            <a:ext cx="128016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84962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'DOMContentLoaded'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737360" y="38679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Auth check on index.html — swaps CTAs for logged-in users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4233672"/>
            <a:ext cx="128016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25196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'mousemove'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737360" y="427024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Hero parallax — calculates x/y offset and transforms hero content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4632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BOM (Browser Object Model)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0" y="1417320"/>
            <a:ext cx="214884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435608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window.location.href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086600" y="1453896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Navigate between pages (clicking songs goes to player.html)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46320" y="1819656"/>
            <a:ext cx="214884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837944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window.location.search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086600" y="185623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Read ?track=7 from URL to auto-load a specific song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846320" y="2221992"/>
            <a:ext cx="214884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24028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URLSearchParams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086600" y="2258568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Parse query string — get('track') extracts the number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846320" y="2624328"/>
            <a:ext cx="214884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264261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localStorage.setItem()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086600" y="2660904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Save user accounts and session data between visits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46320" y="3026664"/>
            <a:ext cx="214884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044952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localStorage.getItem()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086600" y="3063240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Retrieve and JSON.parse users/session on every page load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46320" y="3429000"/>
            <a:ext cx="214884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447288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 / clearInterval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086600" y="3465576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Drives the 1-second timer that updates seek bar &amp; timestamps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846320" y="3831336"/>
            <a:ext cx="214884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3849624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Date().getHours()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086600" y="386791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Dynamic greeting: Good Morning / Afternoon / Evening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846320" y="4233672"/>
            <a:ext cx="214884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425196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window.scrollY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086600" y="4270248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Determines if nav bar should be in .scrolled state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Muse.  —  Front End Engineering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Landing Page — index.html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782312" cy="228600"/>
          </a:xfrm>
          <a:prstGeom prst="rect">
            <a:avLst/>
          </a:prstGeom>
          <a:solidFill>
            <a:srgbClr val="FA233B">
              <a:alpha val="20000"/>
            </a:srgbClr>
          </a:solidFill>
          <a:ln w="6350">
            <a:solidFill>
              <a:srgbClr val="FA2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4782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A233B"/>
                </a:solidFill>
              </a:rPr>
              <a:t>ADVANCED JS — INTERSECTIONOBSERVER · REQUESTANIMATIONFRAME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20240" cy="3429000"/>
          </a:xfrm>
          <a:prstGeom prst="rect">
            <a:avLst/>
          </a:prstGeom>
          <a:solidFill>
            <a:srgbClr val="1C1C1E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1920240" cy="320040"/>
          </a:xfrm>
          <a:prstGeom prst="rect">
            <a:avLst/>
          </a:prstGeom>
          <a:solidFill>
            <a:srgbClr val="4C1D95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Scroll Reveal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1508760"/>
            <a:ext cx="1773936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15910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obs = new IntersectionObserver(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(entries) =&gt; entries.forEach(e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(e.isIntersecting)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e.target.classList.add('visible');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}), { threshold: 0.15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cards.forEach(c =&gt; obs.observe(c));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28803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IntersectionObserver watches each .feature-card. When it enters the viewport, the 'visible' class triggers a CSS fadeUp animation with staggered delays.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450592" y="1143000"/>
            <a:ext cx="1920240" cy="3429000"/>
          </a:xfrm>
          <a:prstGeom prst="rect">
            <a:avLst/>
          </a:prstGeom>
          <a:solidFill>
            <a:srgbClr val="1C1C1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143000"/>
            <a:ext cx="1920240" cy="32004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11887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Count-Up Stats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23744" y="1508760"/>
            <a:ext cx="1773936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508760"/>
            <a:ext cx="15910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tick(now)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elapsed = now - start;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progress = elapsed / 1500;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eased = 1 - (1-progress)**3;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el.textContent = Math.round(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eased * target) + suffix;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requestAnimationFrame(tick);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42032" y="28803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requestAnimationFrame animates numbers from 0 to their target (20 Tracks, 8 Playlists, 100% Free) using a cubic ease-out curve.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626864" y="1143000"/>
            <a:ext cx="1920240" cy="3429000"/>
          </a:xfrm>
          <a:prstGeom prst="rect">
            <a:avLst/>
          </a:prstGeom>
          <a:solidFill>
            <a:srgbClr val="1C1C1E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143000"/>
            <a:ext cx="1920240" cy="320040"/>
          </a:xfrm>
          <a:prstGeom prst="rect">
            <a:avLst/>
          </a:prstGeom>
          <a:solidFill>
            <a:srgbClr val="F97316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718304" y="11887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Mouse Parallax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0016" y="1508760"/>
            <a:ext cx="1773936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1508760"/>
            <a:ext cx="15910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document.addEventListener(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'mousemove', (e)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x=(e.clientX/innerWidth-.5)*20;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y=(e.clientY/innerHeight-.5)*20;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heroContent.style.transform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`translate(${x*.3}px,${y*.3}px)`;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18304" y="28803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On desktop, the hero text block subtly shifts based on mouse position — giving depth to the landing page without any third-party library.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803136" y="1143000"/>
            <a:ext cx="1920240" cy="3429000"/>
          </a:xfrm>
          <a:prstGeom prst="rect">
            <a:avLst/>
          </a:prstGeom>
          <a:solidFill>
            <a:srgbClr val="1C1C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1143000"/>
            <a:ext cx="1920240" cy="320040"/>
          </a:xfrm>
          <a:prstGeom prst="rect">
            <a:avLst/>
          </a:prstGeom>
          <a:solidFill>
            <a:srgbClr val="3B82F6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894576" y="11887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Animated Waveform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76288" y="1508760"/>
            <a:ext cx="1773936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86016" y="1508760"/>
            <a:ext cx="15910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(var i = 0; i &lt; 20; i++)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bar = document.createElement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('div');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bar.className = 'bar';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bar.style.animationDuration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(0.4 + Math.random()*0.6) + 's';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wf.appendChild(bar);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94576" y="28803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20 divs are created and appended dynamically in a loop. Each gets a random animation duration, creating an organic waveform pulse effect next to the featured track.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Muse.  —  Front End Engineering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Asynchronous JS — HTML Audio API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27348" cy="228600"/>
          </a:xfrm>
          <a:prstGeom prst="rect">
            <a:avLst/>
          </a:prstGeom>
          <a:solidFill>
            <a:srgbClr val="FA233B">
              <a:alpha val="20000"/>
            </a:srgbClr>
          </a:solidFill>
          <a:ln w="6350">
            <a:solidFill>
              <a:srgbClr val="FA2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39273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A233B"/>
                </a:solidFill>
              </a:rPr>
              <a:t>LECTURES 35–40  ·  CALLBACKS, EVENT LOOP, AUDIO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The HTML5 &lt;audio&gt; element is the heart of Muse. — controlled entirely through JavaScript's HTMLMediaElement API.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3977640" cy="566928"/>
          </a:xfrm>
          <a:prstGeom prst="rect">
            <a:avLst/>
          </a:prstGeom>
          <a:solidFill>
            <a:srgbClr val="2C2C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6362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D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curr_track.src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97480" y="1581912"/>
            <a:ext cx="1417320" cy="201168"/>
          </a:xfrm>
          <a:prstGeom prst="rect">
            <a:avLst/>
          </a:prstGeom>
          <a:solidFill>
            <a:srgbClr val="FA233B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58191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A233B"/>
                </a:solidFill>
              </a:rPr>
              <a:t>Property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84048" y="18288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Sets the path to the MP3 file — changing this swaps the track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3977640" cy="566928"/>
          </a:xfrm>
          <a:prstGeom prst="rect">
            <a:avLst/>
          </a:prstGeom>
          <a:solidFill>
            <a:srgbClr val="2C2C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56362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D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curr_track.load()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95160" y="1581912"/>
            <a:ext cx="1417320" cy="201168"/>
          </a:xfrm>
          <a:prstGeom prst="rect">
            <a:avLst/>
          </a:prstGeom>
          <a:solidFill>
            <a:srgbClr val="FA233B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158191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A233B"/>
                </a:solidFill>
              </a:rPr>
              <a:t>Method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681728" y="18288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Resets the audio element and loads the new source file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167128"/>
            <a:ext cx="3977640" cy="566928"/>
          </a:xfrm>
          <a:prstGeom prst="rect">
            <a:avLst/>
          </a:prstGeom>
          <a:solidFill>
            <a:srgbClr val="2C2C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2219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D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curr_track.play()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97480" y="2240280"/>
            <a:ext cx="1417320" cy="201168"/>
          </a:xfrm>
          <a:prstGeom prst="rect">
            <a:avLst/>
          </a:prstGeom>
          <a:solidFill>
            <a:srgbClr val="FA233B">
              <a:alpha val="2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224028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A233B"/>
                </a:solidFill>
              </a:rPr>
              <a:t>Async Method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84048" y="24871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Returns a Promise — starts playback asynchronously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0" y="2167128"/>
            <a:ext cx="3977640" cy="566928"/>
          </a:xfrm>
          <a:prstGeom prst="rect">
            <a:avLst/>
          </a:prstGeom>
          <a:solidFill>
            <a:srgbClr val="2C2C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22219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D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curr_track.pause()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95160" y="2240280"/>
            <a:ext cx="1417320" cy="201168"/>
          </a:xfrm>
          <a:prstGeom prst="rect">
            <a:avLst/>
          </a:prstGeom>
          <a:solidFill>
            <a:srgbClr val="FA233B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224028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A233B"/>
                </a:solidFill>
              </a:rPr>
              <a:t>Method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81728" y="24871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Pauses playback without resetting the current position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2825496"/>
            <a:ext cx="3977640" cy="566928"/>
          </a:xfrm>
          <a:prstGeom prst="rect">
            <a:avLst/>
          </a:prstGeom>
          <a:solidFill>
            <a:srgbClr val="2C2C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880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D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curr_track.currentTime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97480" y="2898648"/>
            <a:ext cx="1417320" cy="201168"/>
          </a:xfrm>
          <a:prstGeom prst="rect">
            <a:avLst/>
          </a:prstGeom>
          <a:solidFill>
            <a:srgbClr val="FA233B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697480" y="28986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A233B"/>
                </a:solidFill>
              </a:rPr>
              <a:t>Property (R/W)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84048" y="31455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Read for progress updates; write to seek to any position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0" y="2825496"/>
            <a:ext cx="3977640" cy="566928"/>
          </a:xfrm>
          <a:prstGeom prst="rect">
            <a:avLst/>
          </a:prstGeom>
          <a:solidFill>
            <a:srgbClr val="2C2C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2880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D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curr_track.duration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95160" y="2898648"/>
            <a:ext cx="1417320" cy="201168"/>
          </a:xfrm>
          <a:prstGeom prst="rect">
            <a:avLst/>
          </a:prstGeom>
          <a:solidFill>
            <a:srgbClr val="FA233B">
              <a:alpha val="2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995160" y="28986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A233B"/>
                </a:solidFill>
              </a:rPr>
              <a:t>Property (R)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81728" y="31455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Total length in seconds — checked with isNaN() before using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3483864"/>
            <a:ext cx="3977640" cy="566928"/>
          </a:xfrm>
          <a:prstGeom prst="rect">
            <a:avLst/>
          </a:prstGeom>
          <a:solidFill>
            <a:srgbClr val="2C2C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5387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D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curr_track.volume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97480" y="3557016"/>
            <a:ext cx="1417320" cy="201168"/>
          </a:xfrm>
          <a:prstGeom prst="rect">
            <a:avLst/>
          </a:prstGeom>
          <a:solidFill>
            <a:srgbClr val="FA233B">
              <a:alpha val="2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2697480" y="355701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A233B"/>
                </a:solidFill>
              </a:rPr>
              <a:t>Property (R/W)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84048" y="38039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0.0 to 1.0 — mapped from the 0–100 volume slider value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0" y="3483864"/>
            <a:ext cx="3977640" cy="566928"/>
          </a:xfrm>
          <a:prstGeom prst="rect">
            <a:avLst/>
          </a:prstGeom>
          <a:solidFill>
            <a:srgbClr val="2C2C2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35387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D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'ended' event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95160" y="3557016"/>
            <a:ext cx="1417320" cy="201168"/>
          </a:xfrm>
          <a:prstGeom prst="rect">
            <a:avLst/>
          </a:prstGeom>
          <a:solidFill>
            <a:srgbClr val="FA233B">
              <a:alpha val="2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995160" y="355701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A233B"/>
                </a:solidFill>
              </a:rPr>
              <a:t>Event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681728" y="38039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Fires automatically when a song finishes — triggers nextTrack()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Muse.  —  Front End Engineering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Syllabus Coverage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989D"/>
                </a:solidFill>
              </a:rPr>
              <a:t>How every lecture module maps to a feature we built in Muse.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8595360" cy="310896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15568"/>
            <a:ext cx="640080" cy="310896"/>
          </a:xfrm>
          <a:prstGeom prst="rect">
            <a:avLst/>
          </a:prstGeom>
          <a:solidFill>
            <a:srgbClr val="FA233B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L1–4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60120" y="1152144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JS Basics, Variables, Data Types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86200" y="115214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songs.js — const array of Objects with String/Number/Boolean props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86800" y="1152144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✔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440180"/>
            <a:ext cx="8595360" cy="310896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440180"/>
            <a:ext cx="640080" cy="310896"/>
          </a:xfrm>
          <a:prstGeom prst="rect">
            <a:avLst/>
          </a:prstGeom>
          <a:solidFill>
            <a:srgbClr val="FA233B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4676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L5–8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60120" y="1476756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Operators, Control Flow, Loops, Arrays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86200" y="147675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filterSongs() — for-loop over table rows; nextTrack() if/else chain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686800" y="1476756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✔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764792"/>
            <a:ext cx="8595360" cy="310896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1764792"/>
            <a:ext cx="640080" cy="310896"/>
          </a:xfrm>
          <a:prstGeom prst="rect">
            <a:avLst/>
          </a:prstGeom>
          <a:solidFill>
            <a:srgbClr val="FA233B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79222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L9–12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60120" y="1801368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Functions, Scope, Recursion, Arguments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86200" y="180136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loadTrack(), seekTo(), setVolume() — well-scoped, named functions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686800" y="180136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089404"/>
            <a:ext cx="8595360" cy="310896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2089404"/>
            <a:ext cx="640080" cy="310896"/>
          </a:xfrm>
          <a:prstGeom prst="rect">
            <a:avLst/>
          </a:prstGeom>
          <a:solidFill>
            <a:srgbClr val="FA233B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11683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L13–16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0120" y="2125980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Arrow Functions, Closures, Block Scope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86200" y="212598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AuthManager IIFE closure; arrow functions in library forEach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686800" y="2125980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✔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414016"/>
            <a:ext cx="8595360" cy="310896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2414016"/>
            <a:ext cx="640080" cy="310896"/>
          </a:xfrm>
          <a:prstGeom prst="rect">
            <a:avLst/>
          </a:prstGeom>
          <a:solidFill>
            <a:srgbClr val="FA233B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44144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L17–18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60120" y="2450592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Higher-Order Functions — map, filter, reduce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86200" y="245059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forEach() to build library table; sort/filter for live search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686800" y="245059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✔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738628"/>
            <a:ext cx="8595360" cy="310896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2738628"/>
            <a:ext cx="640080" cy="310896"/>
          </a:xfrm>
          <a:prstGeom prst="rect">
            <a:avLst/>
          </a:prstGeom>
          <a:solidFill>
            <a:srgbClr val="FA233B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276606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L19–22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60120" y="2775204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Destructuring, JSON, Deep/Shallow Copy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886200" y="277520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JSON.stringify/parse for localStorage; template literals throughout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686800" y="2775204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✔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063240"/>
            <a:ext cx="8595360" cy="310896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3063240"/>
            <a:ext cx="640080" cy="310896"/>
          </a:xfrm>
          <a:prstGeom prst="rect">
            <a:avLst/>
          </a:prstGeom>
          <a:solidFill>
            <a:srgbClr val="FA233B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309067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L23–26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60120" y="3099816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DOM Tree, Selectors, Creating Nodes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86200" y="309981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querySelector, createElement, appendChild, insertRow, innerHTML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686800" y="3099816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✔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3387852"/>
            <a:ext cx="8595360" cy="310896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47" name="Shape 45"/>
          <p:cNvSpPr/>
          <p:nvPr/>
        </p:nvSpPr>
        <p:spPr>
          <a:xfrm>
            <a:off x="274320" y="3387852"/>
            <a:ext cx="640080" cy="310896"/>
          </a:xfrm>
          <a:prstGeom prst="rect">
            <a:avLst/>
          </a:prstGeom>
          <a:solidFill>
            <a:srgbClr val="FA233B">
              <a:alpha val="5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341528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L27–30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60120" y="3424428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Event Handling, Bubbling, Delegation, Forms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886200" y="342442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onclick, onchange, onkeyup, onsubmit, ended — all major event types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686800" y="342442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✔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3712464"/>
            <a:ext cx="8595360" cy="310896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53" name="Shape 51"/>
          <p:cNvSpPr/>
          <p:nvPr/>
        </p:nvSpPr>
        <p:spPr>
          <a:xfrm>
            <a:off x="274320" y="3712464"/>
            <a:ext cx="640080" cy="310896"/>
          </a:xfrm>
          <a:prstGeom prst="rect">
            <a:avLst/>
          </a:prstGeom>
          <a:solidFill>
            <a:srgbClr val="FA233B">
              <a:alpha val="5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" y="373989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L31–34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960120" y="3749040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BOM — Window, Location, Alerts &amp; Timers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886200" y="374904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window.location.href, URLSearchParams, setInterval, localStorage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686800" y="3749040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✔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74320" y="4037076"/>
            <a:ext cx="8595360" cy="310896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59" name="Shape 57"/>
          <p:cNvSpPr/>
          <p:nvPr/>
        </p:nvSpPr>
        <p:spPr>
          <a:xfrm>
            <a:off x="274320" y="4037076"/>
            <a:ext cx="640080" cy="310896"/>
          </a:xfrm>
          <a:prstGeom prst="rect">
            <a:avLst/>
          </a:prstGeom>
          <a:solidFill>
            <a:srgbClr val="FA233B">
              <a:alpha val="5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274320" y="406450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L35–40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960120" y="4073652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Async JS — Callbacks, Promises, Event Loop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886200" y="407365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Audio API (play returns Promise), 'ended' event, setInterval callbacks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8686800" y="40736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✔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74320" y="4361688"/>
            <a:ext cx="8595360" cy="310896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65" name="Shape 63"/>
          <p:cNvSpPr/>
          <p:nvPr/>
        </p:nvSpPr>
        <p:spPr>
          <a:xfrm>
            <a:off x="274320" y="4361688"/>
            <a:ext cx="640080" cy="310896"/>
          </a:xfrm>
          <a:prstGeom prst="rect">
            <a:avLst/>
          </a:prstGeom>
          <a:solidFill>
            <a:srgbClr val="FA233B">
              <a:alpha val="5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274320" y="438912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L41–45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960120" y="4398264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Version Control &amp; Git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886200" y="439826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989D"/>
                </a:solidFill>
              </a:rPr>
              <a:t>Project tracked with Git (.git folder) — commits, staging, history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8686800" y="4398264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✔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71" name="Text 6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Muse.  —  Front End Engineering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Going Beyond the Syllabus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072384" cy="228600"/>
          </a:xfrm>
          <a:prstGeom prst="rect">
            <a:avLst/>
          </a:prstGeom>
          <a:solidFill>
            <a:srgbClr val="FA233B">
              <a:alpha val="20000"/>
            </a:srgbClr>
          </a:solidFill>
          <a:ln w="6350">
            <a:solidFill>
              <a:srgbClr val="FA2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30723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A233B"/>
                </a:solidFill>
              </a:rPr>
              <a:t>EXTRA FEATURES &amp; ADVANCED TECHNIQUES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651760" cy="1097280"/>
          </a:xfrm>
          <a:prstGeom prst="rect">
            <a:avLst/>
          </a:prstGeom>
          <a:solidFill>
            <a:srgbClr val="1C1C1E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" cy="109728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344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IntersectionObserver API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Scroll-triggered animations on the landing page. Cards reveal themselves as the user scrolls — no scroll event listener needed.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18688" y="1143000"/>
            <a:ext cx="2651760" cy="1097280"/>
          </a:xfrm>
          <a:prstGeom prst="rect">
            <a:avLst/>
          </a:prstGeom>
          <a:solidFill>
            <a:srgbClr val="1C1C1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14300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12344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requestAnimationFrame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55848" y="1545336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Smooth 60fps count-up animation for the stats bar. Uses a cubic ease-out easing function for professional polish.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63056" y="1143000"/>
            <a:ext cx="2651760" cy="1097280"/>
          </a:xfrm>
          <a:prstGeom prst="rect">
            <a:avLst/>
          </a:prstGeom>
          <a:solidFill>
            <a:srgbClr val="1C1C1E"/>
          </a:solidFill>
          <a:ln w="12700">
            <a:solidFill>
              <a:srgbClr val="FA233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143000"/>
            <a:ext cx="54864" cy="109728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15" name="Text 13"/>
          <p:cNvSpPr/>
          <p:nvPr/>
        </p:nvSpPr>
        <p:spPr>
          <a:xfrm>
            <a:off x="6300216" y="12344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Dynamic CSS Injection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0216" y="1545336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A &lt;style&gt; element is created and updated in JS to change .wrapper::before background — enabling dynamic album-art backdrops without inline styles.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2651760" cy="1097280"/>
          </a:xfrm>
          <a:prstGeom prst="rect">
            <a:avLst/>
          </a:prstGeom>
          <a:solidFill>
            <a:srgbClr val="1C1C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3172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4231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CSS Glassmorphism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2734056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backdrop-filter: blur(25px) creates the frosted-glass bottom nav bar — a modern premium design technique.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18688" y="2331720"/>
            <a:ext cx="2651760" cy="1097280"/>
          </a:xfrm>
          <a:prstGeom prst="rect">
            <a:avLst/>
          </a:prstGeom>
          <a:solidFill>
            <a:srgbClr val="1C1C1E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2331720"/>
            <a:ext cx="54864" cy="10972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3355848" y="24231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Mouse Parallax Effect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55848" y="2734056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mousemove event moves the hero section content subtly based on cursor position — creates depth and interactivity without Three.js.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63056" y="2331720"/>
            <a:ext cx="2651760" cy="1097280"/>
          </a:xfrm>
          <a:prstGeom prst="rect">
            <a:avLst/>
          </a:prstGeom>
          <a:solidFill>
            <a:srgbClr val="1C1C1E"/>
          </a:solidFill>
          <a:ln w="12700">
            <a:solidFill>
              <a:srgbClr val="E91E8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2331720"/>
            <a:ext cx="54864" cy="109728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7" name="Text 25"/>
          <p:cNvSpPr/>
          <p:nvPr/>
        </p:nvSpPr>
        <p:spPr>
          <a:xfrm>
            <a:off x="6300216" y="24231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CSS Marquee Animation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0216" y="2734056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Two rows of album art scrolling in opposite directions, pausing on hover. Built with pure CSS @keyframes — no JavaScript or plugins.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3520440"/>
            <a:ext cx="2651760" cy="1097280"/>
          </a:xfrm>
          <a:prstGeom prst="rect">
            <a:avLst/>
          </a:prstGeom>
          <a:solidFill>
            <a:srgbClr val="1C1C1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52044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6118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OTP Password Reset Simulation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3922776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3-step forgot-password flow with simulated OTP generation using Math.random(). Shows step progress with animated dots.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18688" y="3520440"/>
            <a:ext cx="2651760" cy="1097280"/>
          </a:xfrm>
          <a:prstGeom prst="rect">
            <a:avLst/>
          </a:prstGeom>
          <a:solidFill>
            <a:srgbClr val="1C1C1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18688" y="3520440"/>
            <a:ext cx="54864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3355848" y="36118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URL Parameter Deep Links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55848" y="3922776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Every song card links to player.html?track=N — URLSearchParams parses this to auto-play the right song, enabling shareable links.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163056" y="3520440"/>
            <a:ext cx="2651760" cy="1097280"/>
          </a:xfrm>
          <a:prstGeom prst="rect">
            <a:avLst/>
          </a:prstGeom>
          <a:solidFill>
            <a:srgbClr val="1C1C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63056" y="352044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6300216" y="36118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Responsive Design System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0216" y="3922776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989D"/>
                </a:solidFill>
              </a:rPr>
              <a:t>@media queries at 400px, 600px, and 768px — layout gracefully adapts from a single-column mobile to a wide desktop view.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Muse.  —  Front End Engineering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Version Control with Git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383280" cy="228600"/>
          </a:xfrm>
          <a:prstGeom prst="rect">
            <a:avLst/>
          </a:prstGeom>
          <a:solidFill>
            <a:srgbClr val="FA233B">
              <a:alpha val="20000"/>
            </a:srgbClr>
          </a:solidFill>
          <a:ln w="6350">
            <a:solidFill>
              <a:srgbClr val="FA2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A233B"/>
                </a:solidFill>
              </a:rPr>
              <a:t>LECTURES 41–45  ·  GIT &amp; VERSION CONTROL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Muse. was built with Git from day one. The project repository is tracked locally with a full commit history, enabling rollback, branching, and collaboration.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931920" cy="731520"/>
          </a:xfrm>
          <a:prstGeom prst="rect">
            <a:avLst/>
          </a:prstGeom>
          <a:solidFill>
            <a:srgbClr val="1C1C1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141732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92024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185623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9D"/>
                </a:solidFill>
              </a:rPr>
              <a:t>Initialized the repository — .git/ folder present in the project root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3931920" cy="731520"/>
          </a:xfrm>
          <a:prstGeom prst="rect">
            <a:avLst/>
          </a:prstGeom>
          <a:solidFill>
            <a:srgbClr val="1C1C1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91640"/>
            <a:ext cx="141732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4718304" y="192024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0" y="185623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9D"/>
                </a:solidFill>
              </a:rPr>
              <a:t>Staged all project files (HTML, CSS, JS, images, music) for commit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3931920" cy="731520"/>
          </a:xfrm>
          <a:prstGeom prst="rect">
            <a:avLst/>
          </a:prstGeom>
          <a:solidFill>
            <a:srgbClr val="1C1C1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60320"/>
            <a:ext cx="141732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278892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272491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9D"/>
                </a:solidFill>
              </a:rPr>
              <a:t>Saved snapshots at key milestones — player, auth system, landing page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560320"/>
            <a:ext cx="3931920" cy="731520"/>
          </a:xfrm>
          <a:prstGeom prst="rect">
            <a:avLst/>
          </a:prstGeom>
          <a:solidFill>
            <a:srgbClr val="1C1C1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560320"/>
            <a:ext cx="141732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4718304" y="278892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272491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9D"/>
                </a:solidFill>
              </a:rPr>
              <a:t>Full history of changes — who changed what and when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429000"/>
            <a:ext cx="3931920" cy="731520"/>
          </a:xfrm>
          <a:prstGeom prst="rect">
            <a:avLst/>
          </a:prstGeom>
          <a:solidFill>
            <a:srgbClr val="1C1C1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429000"/>
            <a:ext cx="141732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" y="36576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20240" y="359359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9D"/>
                </a:solidFill>
              </a:rPr>
              <a:t>Compared file changes before committing — helped spot bugs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3429000"/>
            <a:ext cx="3931920" cy="731520"/>
          </a:xfrm>
          <a:prstGeom prst="rect">
            <a:avLst/>
          </a:prstGeom>
          <a:solidFill>
            <a:srgbClr val="1C1C1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429000"/>
            <a:ext cx="141732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4718304" y="36576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359359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9D"/>
                </a:solidFill>
              </a:rPr>
              <a:t>node_modules and OS files excluded from the repository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343400"/>
            <a:ext cx="8412480" cy="320040"/>
          </a:xfrm>
          <a:prstGeom prst="rect">
            <a:avLst/>
          </a:prstGeom>
          <a:solidFill>
            <a:srgbClr val="FA233B">
              <a:alpha val="20000"/>
            </a:srgbClr>
          </a:solidFill>
          <a:ln w="6350">
            <a:solidFill>
              <a:srgbClr val="FA23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3616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✔  The .git folder confirms version control is active — the project is committed and ready for collaboration or deployment.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Muse.  —  Front End Engineering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FA233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4C1D95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A233B"/>
                </a:solidFill>
              </a:rPr>
              <a:t>Muse</a:t>
            </a:r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</a:rPr>
              <a:t>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Thank You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98989D"/>
                </a:solidFill>
              </a:rPr>
              <a:t>Built with HTML5 · CSS3 · Vanilla JavaScript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FA23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233B"/>
                </a:solidFill>
              </a:rPr>
              <a:t>10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989D"/>
                </a:solidFill>
              </a:rPr>
              <a:t>Pages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30175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233B"/>
                </a:solidFill>
              </a:rPr>
              <a:t>20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103120" y="3566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989D"/>
                </a:solidFill>
              </a:rPr>
              <a:t>Songs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49040" y="30175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233B"/>
                </a:solidFill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749040" y="3566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989D"/>
                </a:solidFill>
              </a:rPr>
              <a:t>JS Files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94960" y="30175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233B"/>
                </a:solidFill>
              </a:rPr>
              <a:t>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394960" y="3566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989D"/>
                </a:solidFill>
              </a:rPr>
              <a:t>CSS Animations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40880" y="30175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233B"/>
                </a:solidFill>
              </a:rPr>
              <a:t>11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040880" y="3566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989D"/>
                </a:solidFill>
              </a:rPr>
              <a:t>Lectures Covered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Arjun Sheoran   ·   Atharv Bains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989D"/>
                </a:solidFill>
              </a:rPr>
              <a:t>Front End Engineering — Project Presentation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Muse. — Front End Engineering Project</dc:title>
  <dc:subject>PptxGenJS Presentation</dc:subject>
  <dc:creator>Arjun Sheoran &amp; Atharv Bains</dc:creator>
  <cp:lastModifiedBy>Arjun Sheoran &amp; Atharv Bains</cp:lastModifiedBy>
  <cp:revision>1</cp:revision>
  <dcterms:created xsi:type="dcterms:W3CDTF">2026-05-19T06:35:57Z</dcterms:created>
  <dcterms:modified xsi:type="dcterms:W3CDTF">2026-05-19T06:35:57Z</dcterms:modified>
</cp:coreProperties>
</file>